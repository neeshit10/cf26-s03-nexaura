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7" r:id="rId10"/>
    <p:sldId id="262" r:id="rId11"/>
    <p:sldId id="263" r:id="rId12"/>
  </p:sldIdLst>
  <p:sldSz cx="12192000" cy="6858000"/>
  <p:notesSz cx="6858000" cy="12192000"/>
  <p:embeddedFontLst>
    <p:embeddedFont>
      <p:font typeface="Open Sans" panose="020B0606030504020204" pitchFamily="34" charset="0"/>
      <p:regular r:id="rId14"/>
    </p:embeddedFont>
    <p:embeddedFont>
      <p:font typeface="Open Sans Bold" panose="020B0604020202020204" charset="0"/>
      <p:regular r:id="rId15"/>
    </p:embeddedFont>
    <p:embeddedFont>
      <p:font typeface="Unbounded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56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2524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CodeForge 2026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2591495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6A68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Problem Code: S-03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85556" y="3177382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Problem statement title : Urban Infrastructure Cascade Simulator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3855343"/>
            <a:ext cx="291785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Team name: NEXAURA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Members: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Neeshit Lamsoge · Tanmay Bisen · Tanvi Sharma · Omkar Thakare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3855343"/>
            <a:ext cx="291785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Institution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GH Raisoni Skilltech University, Nagpur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0706"/>
            <a:ext cx="6296860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61475" y="1237754"/>
            <a:ext cx="6296860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City services — power, telecom, water, traffic, hospitals, emergency dispatch, public transport — are </a:t>
            </a:r>
            <a:r>
              <a:rPr lang="en-US" sz="12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deeply interdependent</a:t>
            </a: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When one fails, it cascades across all others.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823343"/>
            <a:ext cx="6296860" cy="11050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0210" y="1995884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Chain Reaction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10210" y="2310606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outage → traffic signals fail → ambulances delayed → hospitals overwhelmed. One failure triggers a system-wide crisis.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053159"/>
            <a:ext cx="6296860" cy="11050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0210" y="3225701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Who Is Affected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910210" y="3540423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City planners, emergency responders, hospitals, transportation systems — and every citizen dependent on these services.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82976"/>
            <a:ext cx="6296860" cy="110509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0210" y="4455517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Missing Tool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910210" y="4770239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Planners lack visibility into cascade effects and recovery priorities. No clear strategy exists for which services to restore first.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661475" y="5528370"/>
            <a:ext cx="6296860" cy="758825"/>
          </a:xfrm>
          <a:prstGeom prst="roundRect">
            <a:avLst>
              <a:gd name="adj" fmla="val 8500"/>
            </a:avLst>
          </a:prstGeom>
          <a:solidFill>
            <a:srgbClr val="D6F5EE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962" y="5709444"/>
            <a:ext cx="191884" cy="15349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60334" y="5691386"/>
            <a:ext cx="5644513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Core Question:</a:t>
            </a:r>
            <a:r>
              <a:rPr lang="en-US" sz="12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How can we model and visualize cascading failures across interdependent city services to guide recovery priorities?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0018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Problem Decomposition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89013"/>
            <a:ext cx="6936011" cy="39304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1333" y="1390551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Core Technical Challenge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971333" y="1745853"/>
            <a:ext cx="3565138" cy="86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Modeling how failure in one service </a:t>
            </a:r>
            <a:r>
              <a:rPr lang="en-US" sz="11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propagates</a:t>
            </a: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through a network of interdependent services — with non-linear, often unpredictable depth and breadth.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971333" y="2731790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Key Assumptions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971333" y="3087092"/>
            <a:ext cx="3565138" cy="949920"/>
          </a:xfrm>
          <a:prstGeom prst="rect">
            <a:avLst/>
          </a:prstGeom>
          <a:noFill/>
          <a:ln/>
        </p:spPr>
        <p:txBody>
          <a:bodyPr wrap="square" lIns="0" tIns="6025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Services representable as graph nodes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Dependencies modeled as directed edges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Failures propagate deterministically through the graph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71333" y="4156968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Known Constraints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971333" y="4512270"/>
            <a:ext cx="3565138" cy="474960"/>
          </a:xfrm>
          <a:prstGeom prst="rect">
            <a:avLst/>
          </a:prstGeom>
          <a:noFill/>
          <a:ln/>
        </p:spPr>
        <p:txBody>
          <a:bodyPr wrap="square" lIns="0" tIns="6025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 city data is complex and often unavailable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Interdependencies are rarely documented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971333" y="5107186"/>
            <a:ext cx="3565138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Hard Edge Cases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71333" y="5462488"/>
            <a:ext cx="3565138" cy="733425"/>
          </a:xfrm>
          <a:prstGeom prst="rect">
            <a:avLst/>
          </a:prstGeom>
          <a:noFill/>
          <a:ln/>
        </p:spPr>
        <p:txBody>
          <a:bodyPr wrap="square" lIns="0" tIns="6025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Partial degradation (not just on/off states)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 recovery times by service type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Redundant vs. non-redundant service paths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4987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Research &amp; Prior Art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35795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Exists Today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848743"/>
            <a:ext cx="522899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Graph-based dependency modeling is well-established in infrastructure resilience research. Cascade failure analysis is used in power grids, telecom networks, and supply chains.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2762448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Relevant Methods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3175397"/>
            <a:ext cx="5228995" cy="868561"/>
          </a:xfrm>
          <a:prstGeom prst="rect">
            <a:avLst/>
          </a:prstGeom>
          <a:noFill/>
          <a:ln/>
        </p:spPr>
        <p:txBody>
          <a:bodyPr wrap="square" lIns="0" tIns="67338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 resilience &amp; cascade failure theory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 infrastructure interdependency modeling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Graph-based failure propagation algorithms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4193877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They Do Well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1475" y="4606826"/>
            <a:ext cx="522899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Existing methods effectively model </a:t>
            </a:r>
            <a:r>
              <a:rPr lang="en-US" sz="13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single-domain</a:t>
            </a: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failures — e.g., power grids in isolation.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5265936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Where They Fall Short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61475" y="5678884"/>
            <a:ext cx="522899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don't address multi-service urban systems with </a:t>
            </a:r>
            <a:r>
              <a:rPr lang="en-US" sz="13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cross-domain dependencies</a:t>
            </a: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explainable recovery strategies.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86333" y="1285875"/>
            <a:ext cx="5471480" cy="5037138"/>
          </a:xfrm>
          <a:prstGeom prst="roundRect">
            <a:avLst>
              <a:gd name="adj" fmla="val 2406"/>
            </a:avLst>
          </a:prstGeom>
          <a:solidFill>
            <a:srgbClr val="DDF8F2"/>
          </a:solidFill>
          <a:ln/>
        </p:spPr>
      </p:sp>
      <p:sp>
        <p:nvSpPr>
          <p:cNvPr id="12" name="Text 10"/>
          <p:cNvSpPr/>
          <p:nvPr/>
        </p:nvSpPr>
        <p:spPr>
          <a:xfrm>
            <a:off x="6354604" y="1435795"/>
            <a:ext cx="513493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19224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The Gap We Identified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354604" y="1848743"/>
            <a:ext cx="5744523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existing tool combines: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4604" y="2238276"/>
            <a:ext cx="5134938" cy="868561"/>
          </a:xfrm>
          <a:prstGeom prst="rect">
            <a:avLst/>
          </a:prstGeom>
          <a:noFill/>
          <a:ln/>
        </p:spPr>
        <p:txBody>
          <a:bodyPr wrap="square" lIns="0" tIns="67338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Cascade </a:t>
            </a:r>
            <a:r>
              <a:rPr lang="en-US" sz="13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visualization</a:t>
            </a: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service domains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Measurable </a:t>
            </a:r>
            <a:r>
              <a:rPr lang="en-US" sz="13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impact metrics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Priority-aware </a:t>
            </a:r>
            <a:r>
              <a:rPr lang="en-US" sz="13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recovery comparison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4604" y="3241774"/>
            <a:ext cx="5744523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UrbanPulse is built to fill exactly this gap.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54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Proposed Approach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42280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simulator that models city services as a dependency graph, injects failures, traces cascade propagation, and compares recovery strategies.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108770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3945447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Extract Metrics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3945447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Track State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3945447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Propagate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358291" y="3945447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Inject Failure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3945447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Input Graph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10976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core insight: represent services as </a:t>
            </a:r>
            <a:r>
              <a:rPr lang="en-US" sz="7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nodes</a:t>
            </a: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dependencies as </a:t>
            </a:r>
            <a:r>
              <a:rPr lang="en-US" sz="7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edges</a:t>
            </a: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Simulate any failure and measure its ripple effect across the entire system — then compare how different recovery strategies change the outcome.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661475" y="5276255"/>
            <a:ext cx="5410759" cy="490934"/>
          </a:xfrm>
          <a:prstGeom prst="roundRect">
            <a:avLst>
              <a:gd name="adj" fmla="val 808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2279" y="5377061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Graph Model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62279" y="5552976"/>
            <a:ext cx="52091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Services as nodes, dependencies as edges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119461" y="5276255"/>
            <a:ext cx="5410759" cy="490934"/>
          </a:xfrm>
          <a:prstGeom prst="roundRect">
            <a:avLst>
              <a:gd name="adj" fmla="val 808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20265" y="5377061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Failure Engine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220265" y="5552976"/>
            <a:ext cx="52091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Inject failures at any node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661475" y="5814417"/>
            <a:ext cx="5410759" cy="490934"/>
          </a:xfrm>
          <a:prstGeom prst="roundRect">
            <a:avLst>
              <a:gd name="adj" fmla="val 808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2279" y="5915223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Cascade Algorithm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62279" y="6091138"/>
            <a:ext cx="52091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Propagate failures through the graph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6119461" y="5814417"/>
            <a:ext cx="5410759" cy="490934"/>
          </a:xfrm>
          <a:prstGeom prst="roundRect">
            <a:avLst>
              <a:gd name="adj" fmla="val 8085"/>
            </a:avLst>
          </a:prstGeom>
          <a:solidFill>
            <a:srgbClr val="D6F5EE"/>
          </a:solidFill>
          <a:ln w="6350">
            <a:solidFill>
              <a:srgbClr val="BCDBD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20265" y="5915223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Recovery Analyzer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20265" y="6091138"/>
            <a:ext cx="52091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basic vs. priority-aware strategies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5766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264345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Components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95834"/>
            <a:ext cx="5265110" cy="8328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879" y="1882080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37634" y="1753691"/>
            <a:ext cx="4431098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Graph Model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337634" y="2072481"/>
            <a:ext cx="443109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City services as nodes; interdependencies as directed edges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30574"/>
            <a:ext cx="5265110" cy="8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0879" y="2816820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37634" y="2688431"/>
            <a:ext cx="4431098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Simulation Engine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337634" y="3007221"/>
            <a:ext cx="443109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Failure injection and cascade propagation logic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65314"/>
            <a:ext cx="5265110" cy="83284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50879" y="3751560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37634" y="3623171"/>
            <a:ext cx="4431098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State Manager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337634" y="3941961"/>
            <a:ext cx="443109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Tracks each service: Healthy → Degraded → Failed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00054"/>
            <a:ext cx="5265110" cy="83284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0879" y="4686300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37634" y="4557911"/>
            <a:ext cx="4431098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Metrics Engine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337634" y="4876701"/>
            <a:ext cx="443109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Affected services, cascade depth, recovery time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34794"/>
            <a:ext cx="5265110" cy="83284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0879" y="5621040"/>
            <a:ext cx="208156" cy="260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337634" y="5492651"/>
            <a:ext cx="4431098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Recovery Analyzer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337634" y="5811441"/>
            <a:ext cx="4431098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Basic vs. priority-aware recovery comparison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6271460" y="1264345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Algorithms &amp; Data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271460" y="1583134"/>
            <a:ext cx="5265110" cy="648990"/>
          </a:xfrm>
          <a:prstGeom prst="rect">
            <a:avLst/>
          </a:prstGeom>
          <a:noFill/>
          <a:ln/>
        </p:spPr>
        <p:txBody>
          <a:bodyPr wrap="square" lIns="0" tIns="55524" rIns="0" bIns="0" rtlCol="0" anchor="t">
            <a:normAutofit/>
          </a:bodyPr>
          <a:lstStyle/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0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Graph traversal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cascade propagation</a:t>
            </a:r>
            <a:endParaRPr lang="en-US" sz="1050" dirty="0"/>
          </a:p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0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State machine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service health tracking</a:t>
            </a:r>
            <a:endParaRPr lang="en-US" sz="1050" dirty="0"/>
          </a:p>
          <a:p>
            <a:pPr marL="213360" indent="-213360" algn="l">
              <a:lnSpc>
                <a:spcPct val="116000"/>
              </a:lnSpc>
              <a:buSzPct val="100000"/>
              <a:buChar char="•"/>
            </a:pPr>
            <a:r>
              <a:rPr lang="en-US" sz="10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Metrics aggregation</a:t>
            </a: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impact measurement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6271460" y="2334022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External Dependencies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271460" y="2652812"/>
            <a:ext cx="526511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Simulated city dependency graphs — self-generated for flexibility and full control over test scenarios.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271460" y="3139877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Flow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6271460" y="3458666"/>
            <a:ext cx="526511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City graph → Failure injection → Propagation → State updates → Metrics → Recovery comparison → Visualization output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575839-2ECA-61E2-23CF-95E90239DF53}"/>
              </a:ext>
            </a:extLst>
          </p:cNvPr>
          <p:cNvSpPr txBox="1"/>
          <p:nvPr/>
        </p:nvSpPr>
        <p:spPr>
          <a:xfrm>
            <a:off x="762001" y="0"/>
            <a:ext cx="97951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0070C0"/>
                </a:solidFill>
                <a:highlight>
                  <a:srgbClr val="C0C0C0"/>
                </a:highlight>
              </a:rPr>
              <a:t>Our screenshot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4A9F8D-54D7-B48A-46C1-CB9C39791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275" y="1039090"/>
            <a:ext cx="7985449" cy="581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22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A41F4E-6EB7-B449-DD63-BBEDB9CD7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266" y="1094508"/>
            <a:ext cx="5153468" cy="57634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92B036-2801-22E6-8344-9434AE516B37}"/>
              </a:ext>
            </a:extLst>
          </p:cNvPr>
          <p:cNvSpPr txBox="1"/>
          <p:nvPr/>
        </p:nvSpPr>
        <p:spPr>
          <a:xfrm>
            <a:off x="3754582" y="96982"/>
            <a:ext cx="4294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0070C0"/>
                </a:solidFill>
                <a:highlight>
                  <a:srgbClr val="C0C0C0"/>
                </a:highlight>
              </a:rPr>
              <a:t>Our screenshot </a:t>
            </a:r>
          </a:p>
        </p:txBody>
      </p:sp>
    </p:spTree>
    <p:extLst>
      <p:ext uri="{BB962C8B-B14F-4D97-AF65-F5344CB8AC3E}">
        <p14:creationId xmlns:p14="http://schemas.microsoft.com/office/powerpoint/2010/main" val="2598557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0C746A-7153-3C74-E259-B13A3BF2D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379" y="1108364"/>
            <a:ext cx="6205241" cy="5749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982701-B8C4-6256-A19E-EEC0AE855F62}"/>
              </a:ext>
            </a:extLst>
          </p:cNvPr>
          <p:cNvSpPr txBox="1"/>
          <p:nvPr/>
        </p:nvSpPr>
        <p:spPr>
          <a:xfrm>
            <a:off x="4142509" y="609600"/>
            <a:ext cx="3726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F23AF7-B8D2-DF3D-E618-A2AA731AAFAA}"/>
              </a:ext>
            </a:extLst>
          </p:cNvPr>
          <p:cNvSpPr txBox="1"/>
          <p:nvPr/>
        </p:nvSpPr>
        <p:spPr>
          <a:xfrm>
            <a:off x="3837709" y="61924"/>
            <a:ext cx="3726873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0070C0"/>
                </a:solidFill>
                <a:highlight>
                  <a:srgbClr val="C0C0C0"/>
                </a:highlight>
              </a:rPr>
              <a:t>Our screenshot 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49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140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Innovation &amp; Impact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413867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6A68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What Makes It Different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797546"/>
            <a:ext cx="5239810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UrbanPulse is the </a:t>
            </a:r>
            <a:r>
              <a:rPr lang="en-US" sz="12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first tool</a:t>
            </a: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combine explainable cascade paths, measurable impact metrics, and recovery strategy comparison for </a:t>
            </a:r>
            <a:r>
              <a:rPr lang="en-US" sz="12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multi-service urban systems</a:t>
            </a: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2624038"/>
            <a:ext cx="5239810" cy="1034653"/>
          </a:xfrm>
          <a:prstGeom prst="rect">
            <a:avLst/>
          </a:prstGeom>
          <a:noFill/>
          <a:ln/>
        </p:spPr>
        <p:txBody>
          <a:bodyPr wrap="square" lIns="0" tIns="63794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See exactly which service failed and why others were affected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recovery strategies side-by-side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Applies graph cascade analysis </a:t>
            </a:r>
            <a:r>
              <a:rPr lang="en-US" sz="12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cross-domain</a:t>
            </a: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not just single-utility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1475" y="3793232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6A68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Who Would Use It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61475" y="4176911"/>
            <a:ext cx="5239810" cy="799505"/>
          </a:xfrm>
          <a:prstGeom prst="rect">
            <a:avLst/>
          </a:prstGeom>
          <a:noFill/>
          <a:ln/>
        </p:spPr>
        <p:txBody>
          <a:bodyPr wrap="square" lIns="0" tIns="63794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City planners &amp; urban resilience consultants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Emergency management agencies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Infrastructure operators &amp; disaster response centers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96760" y="1413867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6A688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Measurable Benefits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296760" y="1716782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Path to Production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96760" y="2100461"/>
            <a:ext cx="523981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Integration with real city data · Validation against historical failures · Deployment in city planning workflows</a:t>
            </a:r>
            <a:endParaRPr lang="en-US" sz="12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174754"/>
            <a:ext cx="318881" cy="31888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8528" y="5229523"/>
            <a:ext cx="302371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Faster Recovery Decisions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148528" y="5808464"/>
            <a:ext cx="302371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Priority-aware strategies reduce time-to-restore critical services</a:t>
            </a:r>
            <a:endParaRPr lang="en-US" sz="12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0414" y="5174754"/>
            <a:ext cx="318881" cy="31888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27467" y="5229523"/>
            <a:ext cx="302371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Reduced Cascade Impact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827467" y="5808464"/>
            <a:ext cx="302371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Early visualization limits downstream service degradation</a:t>
            </a:r>
            <a:endParaRPr lang="en-US" sz="125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19353" y="5174754"/>
            <a:ext cx="318881" cy="31888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6406" y="5229523"/>
            <a:ext cx="3023814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Better Resilience Planning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506406" y="5808464"/>
            <a:ext cx="3023814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Informs infrastructure investment and redundancy decisions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6509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References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569740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Research Foundation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899345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Methods Applied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1475" y="2322116"/>
            <a:ext cx="5225423" cy="576759"/>
          </a:xfrm>
          <a:prstGeom prst="rect">
            <a:avLst/>
          </a:prstGeom>
          <a:noFill/>
          <a:ln/>
        </p:spPr>
        <p:txBody>
          <a:bodyPr wrap="square" lIns="0" tIns="68519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Graph-based dependency modeling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Cascade failure propagation algorithms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11147" y="1569740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 Sources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311147" y="1899345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Team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311147" y="2322116"/>
            <a:ext cx="522542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Neeshit Lamsoge · Tanmay Bisen · Tanvi Sharma · Omkar Thakare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GH Raisoni Skilltech University, Nagpur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CodeForge 2026 · Problem S-03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11147" y="3280470"/>
            <a:ext cx="1565930" cy="260152"/>
          </a:xfrm>
          <a:prstGeom prst="roundRect">
            <a:avLst>
              <a:gd name="adj" fmla="val 22124"/>
            </a:avLst>
          </a:prstGeom>
          <a:solidFill>
            <a:srgbClr val="D6F5EE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3836" y="3341985"/>
            <a:ext cx="137018" cy="13702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619313" y="3331766"/>
            <a:ext cx="1764661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CODEFORGE 2026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62701" y="3280470"/>
            <a:ext cx="1384761" cy="260152"/>
          </a:xfrm>
          <a:prstGeom prst="roundRect">
            <a:avLst>
              <a:gd name="adj" fmla="val 22124"/>
            </a:avLst>
          </a:prstGeom>
          <a:noFill/>
          <a:ln w="6350">
            <a:solidFill>
              <a:srgbClr val="26A6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65390" y="3331766"/>
            <a:ext cx="1788969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S-03 URBANPULSE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3870821"/>
            <a:ext cx="5356389" cy="118248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0821" y="3889871"/>
            <a:ext cx="512799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Network Resilience Theory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870821" y="4250531"/>
            <a:ext cx="512799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 resilience and cascade failure theory in complex systems — foundational literature on how failures propagate in interdependent networks.</a:t>
            </a:r>
            <a:endParaRPr lang="en-US" sz="13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3732" y="3870821"/>
            <a:ext cx="5356488" cy="118248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2128" y="3889871"/>
            <a:ext cx="51280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Infrastructure Interdependency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6402128" y="4250531"/>
            <a:ext cx="5128092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Critical infrastructure interdependency modeling — frameworks for representing cross-domain service dependencies in urban contexts.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61475" y="5208885"/>
            <a:ext cx="10868745" cy="1002506"/>
          </a:xfrm>
          <a:prstGeom prst="roundRect">
            <a:avLst>
              <a:gd name="adj" fmla="val 7177"/>
            </a:avLst>
          </a:prstGeom>
          <a:solidFill>
            <a:srgbClr val="FFFFFF"/>
          </a:solidFill>
          <a:ln w="19050">
            <a:solidFill>
              <a:srgbClr val="BCDBD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51772" y="5399187"/>
            <a:ext cx="1048815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Simulated City Dependency Graphs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851772" y="5759847"/>
            <a:ext cx="10488152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Self-generated datasets providing flexible, controlled scenarios for prototype development and testing.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810</Words>
  <Application>Microsoft Office PowerPoint</Application>
  <PresentationFormat>Widescreen</PresentationFormat>
  <Paragraphs>137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Unbounded Bold</vt:lpstr>
      <vt:lpstr>Open Sans Bold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USER</cp:lastModifiedBy>
  <cp:revision>3</cp:revision>
  <dcterms:created xsi:type="dcterms:W3CDTF">2026-08-24T13:02:47Z</dcterms:created>
  <dcterms:modified xsi:type="dcterms:W3CDTF">2026-08-25T06:25:52Z</dcterms:modified>
</cp:coreProperties>
</file>